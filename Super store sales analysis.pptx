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7"/>
  </p:notesMasterIdLst>
  <p:sldIdLst>
    <p:sldId id="256" r:id="rId2"/>
    <p:sldId id="258" r:id="rId3"/>
    <p:sldId id="260" r:id="rId4"/>
    <p:sldId id="261" r:id="rId5"/>
    <p:sldId id="257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61CDA-90E3-4E32-9A7D-5D0AB005FD2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14439-8C5F-424B-AAFF-A35559294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33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C7D86B0B-E1FF-4572-920E-7311668D09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1DED83EC-6728-43F6-BA9A-AE916127A2C8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2708920"/>
            <a:ext cx="3384376" cy="3528392"/>
          </a:xfrm>
        </p:spPr>
        <p:txBody>
          <a:bodyPr>
            <a:noAutofit/>
          </a:bodyPr>
          <a:lstStyle/>
          <a:p>
            <a:pPr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USING TOOLS:</a:t>
            </a:r>
          </a:p>
          <a:p>
            <a:pPr marL="342900" indent="-342900" algn="l">
              <a:buFont typeface="Wingdings" pitchFamily="2" charset="2"/>
              <a:buChar char="v"/>
            </a:pP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EXCEL</a:t>
            </a:r>
          </a:p>
          <a:p>
            <a:pPr marL="342900" indent="-342900" algn="l">
              <a:buFont typeface="Wingdings" pitchFamily="2" charset="2"/>
              <a:buChar char="v"/>
            </a:pP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POWER QUERY</a:t>
            </a:r>
          </a:p>
          <a:p>
            <a:pPr marL="342900" indent="-342900" algn="l">
              <a:buFont typeface="Wingdings" pitchFamily="2" charset="2"/>
              <a:buChar char="v"/>
            </a:pP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POWERBI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2656"/>
            <a:ext cx="7772400" cy="1008112"/>
          </a:xfrm>
        </p:spPr>
        <p:txBody>
          <a:bodyPr>
            <a:normAutofit/>
          </a:bodyPr>
          <a:lstStyle/>
          <a:p>
            <a:r>
              <a:rPr lang="en-US" sz="4130" dirty="0" smtClean="0">
                <a:solidFill>
                  <a:schemeClr val="tx1"/>
                </a:solidFill>
              </a:rPr>
              <a:t>Super store sales analysis</a:t>
            </a:r>
            <a:endParaRPr lang="en-US" sz="413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33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" t="5778" r="-2140"/>
          <a:stretch/>
        </p:blipFill>
        <p:spPr>
          <a:xfrm>
            <a:off x="5508104" y="5085184"/>
            <a:ext cx="3325523" cy="1456603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43151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706090"/>
          </a:xfrm>
        </p:spPr>
        <p:txBody>
          <a:bodyPr>
            <a:noAutofit/>
          </a:bodyPr>
          <a:lstStyle/>
          <a:p>
            <a:r>
              <a:rPr lang="en-US" sz="2400" b="1" dirty="0"/>
              <a:t>🔎 </a:t>
            </a:r>
            <a:r>
              <a:rPr lang="en-US" sz="2400" b="1" dirty="0" smtClean="0"/>
              <a:t>   Key </a:t>
            </a:r>
            <a:r>
              <a:rPr lang="en-US" sz="2400" b="1" dirty="0"/>
              <a:t>Insights – Super Store Sales Analysis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692696"/>
            <a:ext cx="7467600" cy="6165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📊      Overall </a:t>
            </a:r>
            <a:r>
              <a:rPr lang="en-US" b="1" dirty="0"/>
              <a:t>Business </a:t>
            </a:r>
            <a:r>
              <a:rPr lang="en-US" b="1" dirty="0" smtClean="0"/>
              <a:t>Performance</a:t>
            </a:r>
            <a:endParaRPr lang="en-US" dirty="0"/>
          </a:p>
          <a:p>
            <a:r>
              <a:rPr lang="en-US" dirty="0"/>
              <a:t>💰 </a:t>
            </a:r>
            <a:r>
              <a:rPr lang="en-US" dirty="0" smtClean="0"/>
              <a:t>   </a:t>
            </a:r>
            <a:r>
              <a:rPr lang="en-US" b="1" dirty="0" smtClean="0"/>
              <a:t>Total </a:t>
            </a:r>
            <a:r>
              <a:rPr lang="en-US" b="1" dirty="0"/>
              <a:t>Sales:</a:t>
            </a:r>
            <a:r>
              <a:rPr lang="en-US" dirty="0"/>
              <a:t> 1.56M</a:t>
            </a:r>
          </a:p>
          <a:p>
            <a:r>
              <a:rPr lang="en-US" dirty="0" smtClean="0"/>
              <a:t>📈    </a:t>
            </a:r>
            <a:r>
              <a:rPr lang="en-US" b="1" dirty="0" smtClean="0"/>
              <a:t>Total </a:t>
            </a:r>
            <a:r>
              <a:rPr lang="en-US" b="1" dirty="0"/>
              <a:t>Profit:</a:t>
            </a:r>
            <a:r>
              <a:rPr lang="en-US" dirty="0"/>
              <a:t> 175K</a:t>
            </a:r>
          </a:p>
          <a:p>
            <a:r>
              <a:rPr lang="en-US" dirty="0" smtClean="0"/>
              <a:t>👥    </a:t>
            </a:r>
            <a:r>
              <a:rPr lang="en-US" b="1" dirty="0" smtClean="0"/>
              <a:t>Total </a:t>
            </a:r>
            <a:r>
              <a:rPr lang="en-US" b="1" dirty="0"/>
              <a:t>Customers:</a:t>
            </a:r>
            <a:r>
              <a:rPr lang="en-US" dirty="0"/>
              <a:t> 5,901</a:t>
            </a:r>
          </a:p>
          <a:p>
            <a:r>
              <a:rPr lang="en-US" dirty="0" smtClean="0"/>
              <a:t>📦    </a:t>
            </a:r>
            <a:r>
              <a:rPr lang="en-US" b="1" dirty="0"/>
              <a:t>Total Quantity Sold:</a:t>
            </a:r>
            <a:r>
              <a:rPr lang="en-US" dirty="0"/>
              <a:t> 22,317</a:t>
            </a:r>
          </a:p>
          <a:p>
            <a:r>
              <a:rPr lang="en-US" dirty="0" smtClean="0"/>
              <a:t>🧾    </a:t>
            </a:r>
            <a:r>
              <a:rPr lang="en-US" b="1" dirty="0"/>
              <a:t>Average Order Value:</a:t>
            </a:r>
            <a:r>
              <a:rPr lang="en-US" dirty="0"/>
              <a:t> </a:t>
            </a:r>
            <a:r>
              <a:rPr lang="en-US" dirty="0" smtClean="0"/>
              <a:t>521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👉 </a:t>
            </a:r>
            <a:r>
              <a:rPr lang="en-US" dirty="0" smtClean="0"/>
              <a:t>   The </a:t>
            </a:r>
            <a:r>
              <a:rPr lang="en-US" dirty="0"/>
              <a:t>company is generating strong revenue, but profit margin suggests there is room for cost optimization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🌍     Regional Performance</a:t>
            </a:r>
            <a:endParaRPr lang="en-US" b="1" dirty="0"/>
          </a:p>
          <a:p>
            <a:r>
              <a:rPr lang="en-US" dirty="0"/>
              <a:t>🥇 </a:t>
            </a:r>
            <a:r>
              <a:rPr lang="en-US" b="1" dirty="0"/>
              <a:t>West Region (33%)</a:t>
            </a:r>
            <a:r>
              <a:rPr lang="en-US" dirty="0"/>
              <a:t> contributes the highest sales.</a:t>
            </a:r>
          </a:p>
          <a:p>
            <a:r>
              <a:rPr lang="en-US" dirty="0"/>
              <a:t>🥈 East Region (29%) follows closely.</a:t>
            </a:r>
          </a:p>
          <a:p>
            <a:r>
              <a:rPr lang="en-US" dirty="0"/>
              <a:t>South (16%) is the lowest-performing region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📌     </a:t>
            </a:r>
            <a:r>
              <a:rPr lang="en-US" b="1" dirty="0" smtClean="0"/>
              <a:t>Insight</a:t>
            </a:r>
            <a:r>
              <a:rPr lang="en-US" b="1" dirty="0"/>
              <a:t>:</a:t>
            </a:r>
            <a:r>
              <a:rPr lang="en-US" dirty="0"/>
              <a:t> Business expansion and marketing efforts can be focused more on the South region to increase contribution.</a:t>
            </a:r>
          </a:p>
        </p:txBody>
      </p:sp>
    </p:spTree>
    <p:extLst>
      <p:ext uri="{BB962C8B-B14F-4D97-AF65-F5344CB8AC3E}">
        <p14:creationId xmlns:p14="http://schemas.microsoft.com/office/powerpoint/2010/main" val="23100067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548678"/>
            <a:ext cx="835292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🗂     </a:t>
            </a:r>
            <a:r>
              <a:rPr lang="en-US" b="1" dirty="0"/>
              <a:t>Category </a:t>
            </a:r>
            <a:r>
              <a:rPr lang="en-US" b="1" dirty="0" smtClean="0"/>
              <a:t>Performance: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🏆 </a:t>
            </a:r>
            <a:r>
              <a:rPr lang="en-US" dirty="0" smtClean="0"/>
              <a:t>    </a:t>
            </a:r>
            <a:r>
              <a:rPr lang="en-US" b="1" dirty="0" smtClean="0"/>
              <a:t>Office </a:t>
            </a:r>
            <a:r>
              <a:rPr lang="en-US" b="1" dirty="0"/>
              <a:t>Supplies (0.64M)</a:t>
            </a:r>
            <a:r>
              <a:rPr lang="en-US" dirty="0"/>
              <a:t> is the highest-selling category.</a:t>
            </a:r>
          </a:p>
          <a:p>
            <a:r>
              <a:rPr lang="en-US" dirty="0"/>
              <a:t>Technology (0.47M) and Furniture (0.45M) are strong but slightly lower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📌    </a:t>
            </a:r>
            <a:r>
              <a:rPr lang="en-US" b="1" dirty="0" smtClean="0"/>
              <a:t>Insight</a:t>
            </a:r>
            <a:r>
              <a:rPr lang="en-US" b="1" dirty="0"/>
              <a:t>:</a:t>
            </a:r>
            <a:r>
              <a:rPr lang="en-US" dirty="0"/>
              <a:t> Office Supplies drives volume sales. However, deeper profit analysis is needed to check if Technology generates higher margins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🚚 </a:t>
            </a:r>
            <a:r>
              <a:rPr lang="en-US" b="1" dirty="0" smtClean="0"/>
              <a:t>     Shipping </a:t>
            </a:r>
            <a:r>
              <a:rPr lang="en-US" b="1" dirty="0"/>
              <a:t>Mode </a:t>
            </a:r>
            <a:r>
              <a:rPr lang="en-US" b="1" dirty="0" smtClean="0"/>
              <a:t>Analysis:</a:t>
            </a:r>
            <a:endParaRPr lang="en-US" b="1" dirty="0"/>
          </a:p>
          <a:p>
            <a:r>
              <a:rPr lang="en-US" b="1" dirty="0"/>
              <a:t>Standard Class (0.91M)</a:t>
            </a:r>
            <a:r>
              <a:rPr lang="en-US" dirty="0"/>
              <a:t> is most preferred.</a:t>
            </a:r>
          </a:p>
          <a:p>
            <a:r>
              <a:rPr lang="en-US" dirty="0"/>
              <a:t>Same Day delivery is the least used (0.10M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dirty="0"/>
              <a:t>📌 </a:t>
            </a:r>
            <a:r>
              <a:rPr lang="en-US" dirty="0" smtClean="0"/>
              <a:t>    </a:t>
            </a:r>
            <a:r>
              <a:rPr lang="en-US" b="1" dirty="0" smtClean="0"/>
              <a:t>Insight</a:t>
            </a:r>
            <a:r>
              <a:rPr lang="en-US" b="1" dirty="0"/>
              <a:t>:</a:t>
            </a:r>
            <a:r>
              <a:rPr lang="en-US" dirty="0"/>
              <a:t> Customers prefer cost-effective shipping over faster delivery options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💳 </a:t>
            </a:r>
            <a:r>
              <a:rPr lang="en-US" b="1" dirty="0" smtClean="0"/>
              <a:t>     Payment </a:t>
            </a:r>
            <a:r>
              <a:rPr lang="en-US" b="1" dirty="0"/>
              <a:t>Mode </a:t>
            </a:r>
            <a:r>
              <a:rPr lang="en-US" b="1" dirty="0" smtClean="0"/>
              <a:t>Trends:</a:t>
            </a:r>
            <a:endParaRPr lang="en-US" b="1" dirty="0"/>
          </a:p>
          <a:p>
            <a:r>
              <a:rPr lang="en-US" b="1" dirty="0"/>
              <a:t>COD (42.62%)</a:t>
            </a:r>
            <a:r>
              <a:rPr lang="en-US" dirty="0"/>
              <a:t> is the most used payment method.</a:t>
            </a:r>
          </a:p>
          <a:p>
            <a:r>
              <a:rPr lang="en-US" dirty="0"/>
              <a:t>Online payment (35.38%) is growing.</a:t>
            </a:r>
          </a:p>
          <a:p>
            <a:r>
              <a:rPr lang="en-US" dirty="0"/>
              <a:t>Cards (21.99%) have lower adoption.</a:t>
            </a:r>
          </a:p>
          <a:p>
            <a:r>
              <a:rPr lang="en-US" dirty="0"/>
              <a:t>📌 </a:t>
            </a:r>
            <a:r>
              <a:rPr lang="en-US" dirty="0" smtClean="0"/>
              <a:t>    </a:t>
            </a:r>
            <a:r>
              <a:rPr lang="en-US" b="1" dirty="0" smtClean="0"/>
              <a:t>Insight</a:t>
            </a:r>
            <a:r>
              <a:rPr lang="en-US" b="1" dirty="0"/>
              <a:t>:</a:t>
            </a:r>
            <a:r>
              <a:rPr lang="en-US" dirty="0"/>
              <a:t> High COD usage may increase return risk and operational costs. Encouraging digital payments could improve cash flow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974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3568" y="1052736"/>
            <a:ext cx="77768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📦       Product Quantity Insights</a:t>
            </a:r>
          </a:p>
          <a:p>
            <a:r>
              <a:rPr lang="en-US" dirty="0" smtClean="0"/>
              <a:t>Phones (0.20M) and Chairs (0.18M) are top-selling products by quantity.</a:t>
            </a:r>
          </a:p>
          <a:p>
            <a:endParaRPr lang="en-US" dirty="0" smtClean="0"/>
          </a:p>
          <a:p>
            <a:r>
              <a:rPr lang="en-US" dirty="0" smtClean="0"/>
              <a:t>📌      </a:t>
            </a:r>
            <a:r>
              <a:rPr lang="en-US" b="1" dirty="0" smtClean="0"/>
              <a:t>Insight:</a:t>
            </a:r>
            <a:r>
              <a:rPr lang="en-US" dirty="0" smtClean="0"/>
              <a:t> These products can be bundled with accessories to increase average order value.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3568" y="2852936"/>
            <a:ext cx="75608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📈      Sales &amp; Profit Trend (2019 vs. 2020)</a:t>
            </a:r>
          </a:p>
          <a:p>
            <a:endParaRPr lang="en-US" b="1" dirty="0" smtClean="0"/>
          </a:p>
          <a:p>
            <a:r>
              <a:rPr lang="en-US" dirty="0" smtClean="0"/>
              <a:t>2020 shows overall growth compared to 2019.</a:t>
            </a:r>
          </a:p>
          <a:p>
            <a:r>
              <a:rPr lang="en-US" dirty="0" smtClean="0"/>
              <a:t>Sales peak in </a:t>
            </a:r>
            <a:r>
              <a:rPr lang="en-US" b="1" dirty="0" smtClean="0"/>
              <a:t>October–December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Profit fluctuates more than sales → indicates cost or discount impact.</a:t>
            </a:r>
          </a:p>
          <a:p>
            <a:endParaRPr lang="en-US" dirty="0" smtClean="0"/>
          </a:p>
          <a:p>
            <a:r>
              <a:rPr lang="en-US" dirty="0" smtClean="0"/>
              <a:t>📌      </a:t>
            </a:r>
            <a:r>
              <a:rPr lang="en-US" b="1" dirty="0" smtClean="0"/>
              <a:t>Insight:</a:t>
            </a:r>
            <a:r>
              <a:rPr lang="en-US" dirty="0" smtClean="0"/>
              <a:t> Year-end season (Q4) is the strongest sales period. Promotional campaigns during this period are highly effective.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0493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050" y="116632"/>
            <a:ext cx="8531438" cy="936104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solidFill>
                  <a:schemeClr val="tx1"/>
                </a:solidFill>
                <a:latin typeface="Arial Rounded MT Bold" pitchFamily="34" charset="0"/>
              </a:rPr>
              <a:t>SALES </a:t>
            </a:r>
            <a:r>
              <a:rPr lang="en-US" sz="3200" b="1" dirty="0" smtClean="0">
                <a:solidFill>
                  <a:schemeClr val="tx1"/>
                </a:solidFill>
                <a:latin typeface="Arial Rounded MT Bold" pitchFamily="34" charset="0"/>
              </a:rPr>
              <a:t>DATA FORCASTING </a:t>
            </a:r>
            <a:r>
              <a:rPr lang="en-US" sz="3200" b="1" dirty="0" smtClean="0">
                <a:solidFill>
                  <a:schemeClr val="tx1"/>
                </a:solidFill>
                <a:latin typeface="Arial Rounded MT Bold" pitchFamily="34" charset="0"/>
              </a:rPr>
              <a:t>15 DAYS</a:t>
            </a:r>
            <a:endParaRPr lang="en-US" sz="4400" b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980728"/>
            <a:ext cx="7272808" cy="5184576"/>
          </a:xfrm>
        </p:spPr>
        <p:txBody>
          <a:bodyPr>
            <a:no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Forecast shows steady sales growth in early January</a:t>
            </a:r>
            <a: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b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Upper and lower bounds indicate moderate volatility</a:t>
            </a:r>
            <a: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b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major downward trend expected in short term</a:t>
            </a:r>
            <a: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b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📌    Insight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expected to maintain stable sales momentum in upcoming days.</a:t>
            </a:r>
            <a:b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26663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60</TotalTime>
  <Words>374</Words>
  <Application>Microsoft Office PowerPoint</Application>
  <PresentationFormat>On-screen Show (4:3)</PresentationFormat>
  <Paragraphs>51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Horizon</vt:lpstr>
      <vt:lpstr>Super store sales analysis</vt:lpstr>
      <vt:lpstr>🔎    Key Insights – Super Store Sales Analysis </vt:lpstr>
      <vt:lpstr>PowerPoint Presentation</vt:lpstr>
      <vt:lpstr>PowerPoint Presentation</vt:lpstr>
      <vt:lpstr>Forecast shows steady sales growth in early January.  Upper and lower bounds indicate moderate volatility.  No major downward trend expected in short term.  📌    Insight:  Business is expected to maintain stable sales momentum in upcoming days.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store sales analysis</dc:title>
  <dc:creator>Shantu</dc:creator>
  <cp:lastModifiedBy>Shantu</cp:lastModifiedBy>
  <cp:revision>6</cp:revision>
  <dcterms:created xsi:type="dcterms:W3CDTF">2026-02-25T11:43:02Z</dcterms:created>
  <dcterms:modified xsi:type="dcterms:W3CDTF">2026-02-26T12:49:45Z</dcterms:modified>
</cp:coreProperties>
</file>